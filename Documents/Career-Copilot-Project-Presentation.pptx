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2ce8d072544f8c" /><Relationship Type="http://schemas.openxmlformats.org/officeDocument/2006/relationships/extended-properties" Target="/docProps/app.xml" Id="R37fff98ca57a4ac7" /><Relationship Type="http://schemas.openxmlformats.org/officeDocument/2006/relationships/officeDocument" Target="/ppt/presentation.xml" Id="Re1129a2b427247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2f74c359384bda"/>
  </p:sldMasterIdLst>
  <p:notesMasterIdLst>
    <p:notesMasterId xmlns:r="http://schemas.openxmlformats.org/officeDocument/2006/relationships" r:id="Ree4c37ada4ca4b6c"/>
  </p:notesMasterIdLst>
  <p:sldIdLst>
    <p:sldId xmlns:r="http://schemas.openxmlformats.org/officeDocument/2006/relationships" id="256" r:id="Rfcff85a9c44b4db9"/>
    <p:sldId xmlns:r="http://schemas.openxmlformats.org/officeDocument/2006/relationships" id="257" r:id="R269eae383df94bf1"/>
    <p:sldId xmlns:r="http://schemas.openxmlformats.org/officeDocument/2006/relationships" id="258" r:id="Re545d08e31654736"/>
    <p:sldId xmlns:r="http://schemas.openxmlformats.org/officeDocument/2006/relationships" id="259" r:id="R8f9edd1fc0cc4e05"/>
    <p:sldId xmlns:r="http://schemas.openxmlformats.org/officeDocument/2006/relationships" id="260" r:id="R19d898b342774fa2"/>
    <p:sldId xmlns:r="http://schemas.openxmlformats.org/officeDocument/2006/relationships" id="261" r:id="Re2fd2178c84d40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c3a29e49b54275" /><Relationship Type="http://schemas.openxmlformats.org/officeDocument/2006/relationships/slideMaster" Target="/ppt/slideMasters/slideMaster1.xml" Id="Rc92f74c359384bda" /><Relationship Type="http://schemas.openxmlformats.org/officeDocument/2006/relationships/notesMaster" Target="/ppt/notesMasters/notesMaster1.xml" Id="Ree4c37ada4ca4b6c" /><Relationship Type="http://schemas.openxmlformats.org/officeDocument/2006/relationships/presProps" Target="/ppt/presProps.xml" Id="R421d4bff6c29451c" /><Relationship Type="http://schemas.openxmlformats.org/officeDocument/2006/relationships/tableStyles" Target="/ppt/tableStyles.xml" Id="R92b3030bd0874b4a" /><Relationship Type="http://schemas.openxmlformats.org/officeDocument/2006/relationships/slide" Target="/ppt/slides/slide1.xml" Id="Rfcff85a9c44b4db9" /><Relationship Type="http://schemas.openxmlformats.org/officeDocument/2006/relationships/slide" Target="/ppt/slides/slide2.xml" Id="R269eae383df94bf1" /><Relationship Type="http://schemas.openxmlformats.org/officeDocument/2006/relationships/slide" Target="/ppt/slides/slide3.xml" Id="Re545d08e31654736" /><Relationship Type="http://schemas.openxmlformats.org/officeDocument/2006/relationships/slide" Target="/ppt/slides/slide4.xml" Id="R8f9edd1fc0cc4e05" /><Relationship Type="http://schemas.openxmlformats.org/officeDocument/2006/relationships/slide" Target="/ppt/slides/slide5.xml" Id="R19d898b342774fa2" /><Relationship Type="http://schemas.openxmlformats.org/officeDocument/2006/relationships/slide" Target="/ppt/slides/slide6.xml" Id="Re2fd2178c84d40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74969824f34d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5b5f175f7740f4" /><Relationship Type="http://schemas.openxmlformats.org/officeDocument/2006/relationships/notesMaster" Target="/ppt/notesMasters/notesMaster1.xml" Id="Rc575757e5a464c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82bb8d41d54e44" /><Relationship Type="http://schemas.openxmlformats.org/officeDocument/2006/relationships/notesMaster" Target="/ppt/notesMasters/notesMaster1.xml" Id="R4d475480dfce46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15a644b53b4ed6" /><Relationship Type="http://schemas.openxmlformats.org/officeDocument/2006/relationships/notesMaster" Target="/ppt/notesMasters/notesMaster1.xml" Id="R78c1d984fdfa44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d9454cc0fd407f" /><Relationship Type="http://schemas.openxmlformats.org/officeDocument/2006/relationships/notesMaster" Target="/ppt/notesMasters/notesMaster1.xml" Id="R67ec2a7a023245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aa731327da48e3" /><Relationship Type="http://schemas.openxmlformats.org/officeDocument/2006/relationships/notesMaster" Target="/ppt/notesMasters/notesMaster1.xml" Id="Rd7b72b1f10414e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5ca12b8e574582" /><Relationship Type="http://schemas.openxmlformats.org/officeDocument/2006/relationships/notesMaster" Target="/ppt/notesMasters/notesMaster1.xml" Id="R7e7f9a0886cb43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README.md, docs/DOCUMENTATION.md. Team member names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README.md (What is this?, Design principles, Not included by design); docs/features/ats-scoring.md; docs/features/interview.md; docs/features/jobs.md.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README.md (Architecture, Layer table, Confirm gate); docs/architecture.md; docs/features/ats-scoring.md; docs/features/interview.md; docs/features/learning.md; docs/features/jobs.md.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README.md (Features, Not included by design); docs/features/ats-scoring.md; docs/features/interview.md; docs/features/learning.md; docs/features/jobs.md.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README.md (What is this?, Features, Not included by design); docs/features/ats-scoring.md; docs/features/learning.md; docs/features/jobs.md. Product-value framing is a pitch interpretation of these documented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README.md (Architecture, Design principles, Configuration); docs/architecture.md; docs/DOCUMENTATION.md. Future-scope items are proposed roadmap extensions that preserve the documented invariants.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d083d45acd44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905c335a20473e" /><Relationship Type="http://schemas.openxmlformats.org/officeDocument/2006/relationships/slideLayout" Target="/ppt/slideLayouts/slideLayout1.xml" Id="R87b434a23a1d46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b434a23a1d46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59753afa34ab2" /><Relationship Type="http://schemas.openxmlformats.org/officeDocument/2006/relationships/notesSlide" Target="/ppt/notesSlides/notesSlide1.xml" Id="R31ca964fc2fc4a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b001d952f4c2b" /><Relationship Type="http://schemas.openxmlformats.org/officeDocument/2006/relationships/notesSlide" Target="/ppt/notesSlides/notesSlide2.xml" Id="R46c3e3d8ad304f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7c6f2e9a24082" /><Relationship Type="http://schemas.openxmlformats.org/officeDocument/2006/relationships/notesSlide" Target="/ppt/notesSlides/notesSlide3.xml" Id="Rd5f62c7177b64a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b1f6826654e04" /><Relationship Type="http://schemas.openxmlformats.org/officeDocument/2006/relationships/notesSlide" Target="/ppt/notesSlides/notesSlide4.xml" Id="Rf7d20fd87dee48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89e577a2045f1" /><Relationship Type="http://schemas.openxmlformats.org/officeDocument/2006/relationships/notesSlide" Target="/ppt/notesSlides/notesSlide5.xml" Id="R41ae0865822c4a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fa0bf0647456a" /><Relationship Type="http://schemas.openxmlformats.org/officeDocument/2006/relationships/notesSlide" Target="/ppt/notesSlides/notesSlide6.xml" Id="Rbaf22638062c41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28C312-F02F-4FF4-8502-A7E640FD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8572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3E2AF-6310-4278-8E61-F3538AB6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762125"/>
            <a:ext cx="9048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9835F-D0E5-4751-9328-E1C9A2FC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B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EBCB1-775D-4408-B765-14726025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143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47D9E-8112-4E6D-8CEF-3E559BC4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052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5CF97-77A2-48FE-8082-00059419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857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D1BA0-EE72-45C2-A97A-02F7C0A1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619250"/>
            <a:ext cx="71437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B6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79F65-6AB1-4358-B5E0-95F1891C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38375"/>
            <a:ext cx="13335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B6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1479A-41A1-4D00-8F04-1916352B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48000"/>
            <a:ext cx="1076325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4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00175-BEC6-4DFF-AA5A-7B33DF1B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91000"/>
            <a:ext cx="1209675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44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F03AC-D324-45C4-AC72-E65812C1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62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E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CCECE-2606-4BF7-92A1-5B750C5C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076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6554B-8546-4552-AE72-19F051C2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D04BC-AD9A-4457-B6E5-A8164DD3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E7E7"/>
                </a:solidFill>
              </a:defRPr>
            </a:pPr>
            <a:r>
              <a:rPr sz="975" b="1">
                <a:solidFill>
                  <a:srgbClr val="5BE7E7"/>
                </a:solidFill>
              </a:rPr>
              <a:t>PRODUCT / SYSTEM PITCH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D2838-8AD3-4752-9044-1DB91DF3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8FBFF"/>
                </a:solidFill>
              </a:defRPr>
            </a:pPr>
            <a:r>
              <a:rPr sz="4800" b="1">
                <a:solidFill>
                  <a:srgbClr val="F8FBFF"/>
                </a:solidFill>
              </a:rPr>
              <a:t>Career</a:t>
            </a:r>
          </a:p>
          <a:p xmlns:a="http://schemas.openxmlformats.org/drawingml/2006/main">
            <a:pPr algn="l">
              <a:defRPr sz="4800" b="1">
                <a:solidFill>
                  <a:srgbClr val="F8FBFF"/>
                </a:solidFill>
              </a:defRPr>
            </a:pPr>
            <a:r>
              <a:rPr sz="4800" b="1">
                <a:solidFill>
                  <a:srgbClr val="F8FBFF"/>
                </a:solidFill>
              </a:rPr>
              <a:t>Copilot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B15A9-0D2E-4363-8B89-7349E9F9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B7CA"/>
                </a:solidFill>
              </a:defRPr>
            </a:pPr>
            <a:r>
              <a:rPr sz="1650" b="0">
                <a:solidFill>
                  <a:srgbClr val="A8B7CA"/>
                </a:solidFill>
              </a:rPr>
              <a:t>The evidence-grounded career operating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CF3A32-5911-4A25-9D6A-690276C9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</a:defRPr>
            </a:pPr>
            <a:r>
              <a:rPr sz="1350" b="0">
                <a:solidFill>
                  <a:srgbClr val="F8FBFF"/>
                </a:solidFill>
              </a:rPr>
              <a:t>Turn confirmed career evidence into measurable readiness — from resume signal to interview confidence.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7EACB6-6D73-45FC-AB30-3C20C7DE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E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C37C7-02F7-44E9-AB8E-7F374E92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111F"/>
                </a:solidFill>
              </a:defRPr>
            </a:pPr>
            <a:r>
              <a:rPr sz="900" b="1">
                <a:solidFill>
                  <a:srgbClr val="08111F"/>
                </a:solidFill>
              </a:rPr>
              <a:t>EVIDENCE OVER INVENTION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9E523-A945-44A1-BA97-EFFAA540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BFF"/>
                </a:solidFill>
              </a:defRPr>
            </a:pPr>
            <a:r>
              <a:rPr sz="1200" b="1">
                <a:solidFill>
                  <a:srgbClr val="F8FBFF"/>
                </a:solidFill>
              </a:rPr>
              <a:t>Pratik  ·  Daji  ·  Priyansu  ·  Ronak  ·  Faizan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89C76-EA04-47CF-A093-312E6ED4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Private candidate workspace  /  Vite + React + FastAPI + Firestore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622A7-EDF7-4535-AE0E-8A944736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7CA"/>
                </a:solidFill>
              </a:defRPr>
            </a:pPr>
            <a:r>
              <a:rPr sz="750" b="1">
                <a:solidFill>
                  <a:srgbClr val="A8B7CA"/>
                </a:solidFill>
              </a:rPr>
              <a:t>CAREER COPILOT  /  PRODUCT PITCH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C0E4AF-C494-4C1A-8D11-801F963F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E7E7"/>
                </a:solidFill>
              </a:defRPr>
            </a:pPr>
            <a:r>
              <a:rPr sz="825" b="1">
                <a:solidFill>
                  <a:srgbClr val="5BE7E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615206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CA79EC-340F-41F9-AAB6-D5244A02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E7E7"/>
                </a:solidFill>
              </a:defRPr>
            </a:pPr>
            <a:r>
              <a:rPr sz="900" b="1">
                <a:solidFill>
                  <a:srgbClr val="5BE7E7"/>
                </a:solidFill>
              </a:rPr>
              <a:t>01  /  THE WHY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C65FC-67A1-4005-931C-2DDC36F4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BFF"/>
                </a:solidFill>
              </a:defRPr>
            </a:pPr>
            <a:r>
              <a:rPr sz="2625" b="1">
                <a:solidFill>
                  <a:srgbClr val="F8FBFF"/>
                </a:solidFill>
              </a:rPr>
              <a:t>Career progress breaks when evidence is fragmented.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67DAA-A30E-4F61-BEB4-2E5642CF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7CA"/>
                </a:solidFill>
              </a:defRPr>
            </a:pPr>
            <a:r>
              <a:rPr sz="1200" b="0">
                <a:solidFill>
                  <a:srgbClr val="A8B7CA"/>
                </a:solidFill>
              </a:rPr>
              <a:t>Candidates need one trustworthy loop from source material to action — not another generic AI chat.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0CEF8-3A0F-4864-A61D-86ACE96B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1A797-4AD1-40D5-9D81-48785EB8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432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2233B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48A3E-FCD8-4A59-B4CB-D0DDC35D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A73"/>
                </a:solidFill>
              </a:defRPr>
            </a:pPr>
            <a:r>
              <a:rPr sz="1950" b="1">
                <a:solidFill>
                  <a:srgbClr val="FF7A7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0DD08-26E3-43FA-AB40-7FA4631F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765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BFF"/>
                </a:solidFill>
              </a:defRPr>
            </a:pPr>
            <a:r>
              <a:rPr sz="1800" b="1">
                <a:solidFill>
                  <a:srgbClr val="F8FBFF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331A3-CE70-420F-BF81-59B295CB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Disconnected tools create blind spots.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31B1C-DCA2-42C7-B471-844F2BE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595C7-96B2-4620-941D-6A3ABB35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7CA"/>
                </a:solidFill>
              </a:defRPr>
            </a:pPr>
            <a:r>
              <a:rPr sz="1050" b="0">
                <a:solidFill>
                  <a:srgbClr val="A8B7CA"/>
                </a:solidFill>
              </a:rPr>
              <a:t>Resumes live in files.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CCC09-4505-4D36-98DA-62393CD9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16FF0-19C1-463C-B404-612A39A1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7CA"/>
                </a:solidFill>
              </a:defRPr>
            </a:pPr>
            <a:r>
              <a:rPr sz="1050" b="0">
                <a:solidFill>
                  <a:srgbClr val="A8B7CA"/>
                </a:solidFill>
              </a:rPr>
              <a:t>Job descriptions are read once.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E241D-D44B-4129-B172-3FC912CA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29520-CE99-4B59-A5FC-1519B225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7CA"/>
                </a:solidFill>
              </a:defRPr>
            </a:pPr>
            <a:r>
              <a:rPr sz="1050" b="0">
                <a:solidFill>
                  <a:srgbClr val="A8B7CA"/>
                </a:solidFill>
              </a:rPr>
              <a:t>Practice feedback rarely compounds.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CFFAA-9A3A-43BC-920B-B06215C3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31432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2233B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79593-B361-4686-ADE9-48AB4776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38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C857"/>
                </a:solidFill>
              </a:defRPr>
            </a:pPr>
            <a:r>
              <a:rPr sz="1950" b="1">
                <a:solidFill>
                  <a:srgbClr val="FFC857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FF6210-053D-4952-B6BD-9F6B2CF4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BFF"/>
                </a:solidFill>
              </a:defRPr>
            </a:pPr>
            <a:r>
              <a:rPr sz="1800" b="1">
                <a:solidFill>
                  <a:srgbClr val="F8FBFF"/>
                </a:solidFill>
              </a:rPr>
              <a:t>Aim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964286-0082-479E-A7B4-6DA1DD9C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99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Create a private readiness system.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DC7F26-2D8F-473B-927C-74B50591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C14F78-7A93-47A4-8F89-1EA7F6AB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52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7CA"/>
                </a:solidFill>
              </a:defRPr>
            </a:pPr>
            <a:r>
              <a:rPr sz="1050" b="0">
                <a:solidFill>
                  <a:srgbClr val="A8B7CA"/>
                </a:solidFill>
              </a:rPr>
              <a:t>Make evidence reviewable.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06BC01-3E4E-4DEA-9154-871FE8A3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7397ED-8980-43D8-8AF4-FAEF1114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95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7CA"/>
                </a:solidFill>
              </a:defRPr>
            </a:pPr>
            <a:r>
              <a:rPr sz="1050" b="0">
                <a:solidFill>
                  <a:srgbClr val="A8B7CA"/>
                </a:solidFill>
              </a:rPr>
              <a:t>Make gaps measurable.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4C9E44-C6F7-4775-B44C-77EAAF52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8A7E8E-7B89-4F28-9119-91D870DF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38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7CA"/>
                </a:solidFill>
              </a:defRPr>
            </a:pPr>
            <a:r>
              <a:rPr sz="1050" b="0">
                <a:solidFill>
                  <a:srgbClr val="A8B7CA"/>
                </a:solidFill>
              </a:rPr>
              <a:t>Make next actions obvious.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26DE1E-7994-4DA7-9B56-FE7DD0AC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47900"/>
            <a:ext cx="35814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2233B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AC2709-5ADA-415E-9EE1-2DFCE021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38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BE7E7"/>
                </a:solidFill>
              </a:defRPr>
            </a:pPr>
            <a:r>
              <a:rPr sz="1950" b="1">
                <a:solidFill>
                  <a:srgbClr val="5BE7E7"/>
                </a:solidFill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51FFFC-9238-46E8-9EC3-21E7F5DC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765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BFF"/>
                </a:solidFill>
              </a:defRPr>
            </a:pPr>
            <a:r>
              <a:rPr sz="1800" b="1">
                <a:solidFill>
                  <a:srgbClr val="F8FBFF"/>
                </a:solidFill>
              </a:rPr>
              <a:t>Solution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5DA840-30D9-46B1-BA1F-F4FB6809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09900"/>
            <a:ext cx="316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 confirmed-evidence career workspace.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6EA4D5-F342-4D4C-AABB-709150D4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E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5C9EC7-AAC1-4529-9558-EE0A8192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7CA"/>
                </a:solidFill>
              </a:defRPr>
            </a:pPr>
            <a:r>
              <a:rPr sz="1050" b="0">
                <a:solidFill>
                  <a:srgbClr val="A8B7CA"/>
                </a:solidFill>
              </a:rPr>
              <a:t>Deterministic ATS signal.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8CB9D6-9917-4770-96A5-9FFA0EBE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E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1231DB-5E6C-4DB9-A2CD-0D4C1386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7CA"/>
                </a:solidFill>
              </a:defRPr>
            </a:pPr>
            <a:r>
              <a:rPr sz="1050" b="0">
                <a:solidFill>
                  <a:srgbClr val="A8B7CA"/>
                </a:solidFill>
              </a:rPr>
              <a:t>Coaching, not hiring claims.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4B80F5-0E97-4497-8ECC-0F01BAFA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E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9503AF-3EB7-465C-8FE9-B1DFEAE8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386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7CA"/>
                </a:solidFill>
              </a:defRPr>
            </a:pPr>
            <a:r>
              <a:rPr sz="1050" b="0">
                <a:solidFill>
                  <a:srgbClr val="A8B7CA"/>
                </a:solidFill>
              </a:rPr>
              <a:t>Recommendations grounded in the profile.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F8806A-ABFC-4BAD-8E01-D514C3EB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E7E7"/>
                </a:solidFill>
              </a:defRPr>
            </a:pPr>
            <a:r>
              <a:rPr sz="1350" b="1">
                <a:solidFill>
                  <a:srgbClr val="5BE7E7"/>
                </a:solidFill>
              </a:rPr>
              <a:t>Trust boundary: only text the candidate types, uploads, confirms, or explicitly accepts can drive downstream product actions.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DCB091-A333-4E7B-8480-F20DB35A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7CA"/>
                </a:solidFill>
              </a:defRPr>
            </a:pPr>
            <a:r>
              <a:rPr sz="750" b="1">
                <a:solidFill>
                  <a:srgbClr val="A8B7CA"/>
                </a:solidFill>
              </a:rPr>
              <a:t>CAREER COPILOT  /  PRODUCT PITCH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F59483-27E4-460C-B158-2BB5583C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E7E7"/>
                </a:solidFill>
              </a:defRPr>
            </a:pPr>
            <a:r>
              <a:rPr sz="825" b="1">
                <a:solidFill>
                  <a:srgbClr val="5BE7E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203661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022E74-40DE-462B-B942-B70EE25B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E7E7"/>
                </a:solidFill>
              </a:defRPr>
            </a:pPr>
            <a:r>
              <a:rPr sz="900" b="1">
                <a:solidFill>
                  <a:srgbClr val="5BE7E7"/>
                </a:solidFill>
              </a:rPr>
              <a:t>02  /  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CE250-41D4-4743-AF1D-C4BD2CB8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BFF"/>
                </a:solidFill>
              </a:defRPr>
            </a:pPr>
            <a:r>
              <a:rPr sz="2625" b="1">
                <a:solidFill>
                  <a:srgbClr val="F8FBFF"/>
                </a:solidFill>
              </a:rPr>
              <a:t>A thin browser, a trusted API, and an evidence-aware product.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9477E-64D2-46B7-A3B3-F8677828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7CA"/>
                </a:solidFill>
              </a:defRPr>
            </a:pPr>
            <a:r>
              <a:rPr sz="1200" b="0">
                <a:solidFill>
                  <a:srgbClr val="A8B7CA"/>
                </a:solidFill>
              </a:rPr>
              <a:t>The architecture keeps private data and provider keys behind the FastAPI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D0E7B-F5A5-4FAD-831B-EB075DC6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FCAD9-47BD-493F-B65B-6D6C126C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67000"/>
            <a:ext cx="495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AB6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9B8D5-5B53-4F84-8E9E-C29EBF2F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67000"/>
            <a:ext cx="495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AB6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9A761-C4DE-4C0C-9DBB-E5941BC1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67000"/>
            <a:ext cx="495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AB6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21E3C-5B92-4A21-BE29-DF03285C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67000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AB6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B9B9D-43C9-4BD6-9262-30C37AA5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5430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12233B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A35EB-6759-4081-B5A6-90210BC7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DF535-327B-45AC-9F75-2C4EFD67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Browser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56B1B-2A75-4CE7-A77F-122310D7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React + Vite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CFAAC-B0FD-43F1-B581-284F1EA5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86000"/>
            <a:ext cx="20193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12233B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4E753E-6C98-4750-9051-5D013794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860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2BD257-DFE4-40F4-A62F-87BD8F42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384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BFF proxy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90205-7F9E-4F2D-A2D1-A2312198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1462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/api/backend/*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EE569B-9298-4D3F-AF1B-45F25E03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86000"/>
            <a:ext cx="20193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12233B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FF0B6-88D8-4E01-8F27-C3E59583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860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315FC-5F9E-461A-AF79-9785063E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384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FastAPI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CB3D1-5DAD-4D71-9198-CF1F59BF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1462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JWT + ownership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355726-81CD-42F5-B7CA-9B118ADA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86000"/>
            <a:ext cx="20193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12233B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60E374-452C-4DDA-875B-556963CE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860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E7A660-9958-4CD6-B479-D03B0EFD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384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Domain layer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8C9B38-4F39-4505-AED2-8BC05CD9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1462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ATS · interview · jobs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54D194-A687-4F64-9906-DA561167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86000"/>
            <a:ext cx="1524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12233B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F3C0AE-FCCE-443B-8E29-81D60AAA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860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B766D7-94C1-4B6E-B776-8CDBCF88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384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Data + 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0D2E21-A834-4EF8-A928-A85654D9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7146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Firestore · Supabase · LLMs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1857E3-50F0-4410-B9B3-4E0ED413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E7E7"/>
                </a:solidFill>
              </a:defRPr>
            </a:pPr>
            <a:r>
              <a:rPr sz="900" b="1">
                <a:solidFill>
                  <a:srgbClr val="5BE7E7"/>
                </a:solidFill>
              </a:rPr>
              <a:t>PRODUCT PIPELINE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127AD6-C3CC-410F-BE0C-D32C200D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57700"/>
            <a:ext cx="419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445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38D5D2-885A-4808-A366-D268CF03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C48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5DB708-B78B-474B-A0EB-AE9D1009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E7E7"/>
                </a:solidFill>
              </a:defRPr>
            </a:pPr>
            <a:r>
              <a:rPr sz="975" b="1">
                <a:solidFill>
                  <a:srgbClr val="5BE7E7"/>
                </a:solidFill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F70542-B53F-46FE-959D-E657E0C5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BFF"/>
                </a:solidFill>
              </a:defRPr>
            </a:pPr>
            <a:r>
              <a:rPr sz="1200" b="1">
                <a:solidFill>
                  <a:srgbClr val="F8FBFF"/>
                </a:solidFill>
              </a:rPr>
              <a:t>Upload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530684-1F40-4B98-BB2D-A29930BC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PDF / DOCX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F88EDC-1E28-4A42-B3F5-17A9513D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57700"/>
            <a:ext cx="419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44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3514F9-05B2-4AC3-9568-73BFC4C3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33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C48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84C871-8F18-4CE9-8677-4426306A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29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E7E7"/>
                </a:solidFill>
              </a:defRPr>
            </a:pPr>
            <a:r>
              <a:rPr sz="975" b="1">
                <a:solidFill>
                  <a:srgbClr val="5BE7E7"/>
                </a:solidFill>
              </a:rPr>
              <a:t>02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2EF314-1ADD-43DB-AE61-F4698E5A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053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BFF"/>
                </a:solidFill>
              </a:defRPr>
            </a:pPr>
            <a:r>
              <a:rPr sz="1200" b="1">
                <a:solidFill>
                  <a:srgbClr val="F8FBFF"/>
                </a:solidFill>
              </a:rPr>
              <a:t>Extract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218CA8-74D5-4F4A-94AB-9A334467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720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structured sections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141938-2AE7-4464-AF7B-0F314FDA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57700"/>
            <a:ext cx="419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445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3D869F-9FDD-484F-A373-C2DE69DE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33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C98293-6D17-49B9-939F-F777DE66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29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111F"/>
                </a:solidFill>
              </a:defRPr>
            </a:pPr>
            <a:r>
              <a:rPr sz="975" b="1">
                <a:solidFill>
                  <a:srgbClr val="08111F"/>
                </a:solidFill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54BF7C-C9BB-4826-B35E-80833F85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053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BFF"/>
                </a:solidFill>
              </a:defRPr>
            </a:pPr>
            <a:r>
              <a:rPr sz="1200" b="1">
                <a:solidFill>
                  <a:srgbClr val="F8FBFF"/>
                </a:solidFill>
              </a:rPr>
              <a:t>Confirm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7C6112-2441-4B2D-B7BA-43CD08CA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720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candidate review gate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60DD07-3170-4977-B567-0B58804A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57700"/>
            <a:ext cx="419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445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A85E50-5F07-44B6-8996-EFDC3626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33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C48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2DB863-8EC6-4B26-BBA9-90909ADC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29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E7E7"/>
                </a:solidFill>
              </a:defRPr>
            </a:pPr>
            <a:r>
              <a:rPr sz="975" b="1">
                <a:solidFill>
                  <a:srgbClr val="5BE7E7"/>
                </a:solidFill>
              </a:rPr>
              <a:t>04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1AFA97-52EC-436F-B4BE-430C4B8F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053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BFF"/>
                </a:solidFill>
              </a:defRPr>
            </a:pPr>
            <a:r>
              <a:rPr sz="1200" b="1">
                <a:solidFill>
                  <a:srgbClr val="F8FBFF"/>
                </a:solidFill>
              </a:rPr>
              <a:t>Score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49EFFD-5E74-4DAA-9508-A73E9C79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720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exact keyword evidence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B5D9D9-C977-44A7-9421-841E5EC4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57700"/>
            <a:ext cx="419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445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0E1203-2202-4914-A1E7-97B23B61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33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C48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0C1CD1-43B1-48CC-9D34-4D3566BE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29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E7E7"/>
                </a:solidFill>
              </a:defRPr>
            </a:pPr>
            <a:r>
              <a:rPr sz="975" b="1">
                <a:solidFill>
                  <a:srgbClr val="5BE7E7"/>
                </a:solidFill>
              </a:rPr>
              <a:t>05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DB0932-F390-4CED-A6D6-DAF59783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053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BFF"/>
                </a:solidFill>
              </a:defRPr>
            </a:pPr>
            <a:r>
              <a:rPr sz="1200" b="1">
                <a:solidFill>
                  <a:srgbClr val="F8FBFF"/>
                </a:solidFill>
              </a:rPr>
              <a:t>Practice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29B99A-89B3-45E5-BEA2-872423D0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720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coaching + report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C04678D-7267-47EB-9FDF-A1C62972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33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C48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A09D76-471B-44AB-B144-A141DC7E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29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E7E7"/>
                </a:solidFill>
              </a:defRPr>
            </a:pPr>
            <a:r>
              <a:rPr sz="975" b="1">
                <a:solidFill>
                  <a:srgbClr val="5BE7E7"/>
                </a:solidFill>
              </a:rPr>
              <a:t>06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4540AF5-2CD7-4C27-B9BD-23C416F7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053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BFF"/>
                </a:solidFill>
              </a:defRPr>
            </a:pPr>
            <a:r>
              <a:rPr sz="1200" b="1">
                <a:solidFill>
                  <a:srgbClr val="F8FBFF"/>
                </a:solidFill>
              </a:rPr>
              <a:t>Act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319D79-D903-4C38-8341-D9FA2731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720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learn + match jobs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D1CFF3-CBB2-4978-8011-74CB3163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15000"/>
            <a:ext cx="1581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1A3D3C9-7F73-4E76-9BAB-02AFA638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531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E7E7"/>
                </a:solidFill>
              </a:defRPr>
            </a:pPr>
            <a:r>
              <a:rPr sz="900" b="1">
                <a:solidFill>
                  <a:srgbClr val="5BE7E7"/>
                </a:solidFill>
              </a:rPr>
              <a:t>PRIVATE BY DEFAULT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C08FBC5-8B76-46B0-B685-9F80C059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7CA"/>
                </a:solidFill>
              </a:defRPr>
            </a:pPr>
            <a:r>
              <a:rPr sz="1200" b="0">
                <a:solidFill>
                  <a:srgbClr val="A8B7CA"/>
                </a:solidFill>
              </a:rPr>
              <a:t>Keys stay server-side. Every row and file path is scoped to the signed-in user.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6CC847-3F7C-41E5-92F7-8D812FDA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7CA"/>
                </a:solidFill>
              </a:defRPr>
            </a:pPr>
            <a:r>
              <a:rPr sz="750" b="1">
                <a:solidFill>
                  <a:srgbClr val="A8B7CA"/>
                </a:solidFill>
              </a:rPr>
              <a:t>CAREER COPILOT  /  PRODUCT PITCH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116648-7D20-4DE5-ADC8-8C0ADF2E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E7E7"/>
                </a:solidFill>
              </a:defRPr>
            </a:pPr>
            <a:r>
              <a:rPr sz="825" b="1">
                <a:solidFill>
                  <a:srgbClr val="5BE7E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549930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7D4CC8-D19C-406E-8AA3-879FC9A7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E7E7"/>
                </a:solidFill>
              </a:defRPr>
            </a:pPr>
            <a:r>
              <a:rPr sz="900" b="1">
                <a:solidFill>
                  <a:srgbClr val="5BE7E7"/>
                </a:solidFill>
              </a:rPr>
              <a:t>03  /  PRODUCT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91226-37D2-4AD1-B048-BFC74EBD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BFF"/>
                </a:solidFill>
              </a:defRPr>
            </a:pPr>
            <a:r>
              <a:rPr sz="2625" b="1">
                <a:solidFill>
                  <a:srgbClr val="F8FBFF"/>
                </a:solidFill>
              </a:rPr>
              <a:t>Six capabilities, one readiness loop.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FAD21-E741-49DA-B60A-E3F80187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7CA"/>
                </a:solidFill>
              </a:defRPr>
            </a:pPr>
            <a:r>
              <a:rPr sz="1200" b="0">
                <a:solidFill>
                  <a:srgbClr val="A8B7CA"/>
                </a:solidFill>
              </a:rPr>
              <a:t>Each function turns a confirmed source into a concrete next move.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A2C45-7E2A-471D-A442-A4FB229E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ECD5E-72E5-418A-BFBD-41F06965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09900"/>
            <a:ext cx="9144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E1143-0B9F-4E5C-ABCF-8A608212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28575">
            <a:solidFill>
              <a:srgbClr val="4F8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AE68F-7FB1-4DC1-83E8-10B07AAB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051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8CFF"/>
                </a:solidFill>
              </a:defRPr>
            </a:pPr>
            <a:r>
              <a:rPr sz="900" b="1">
                <a:solidFill>
                  <a:srgbClr val="4F8C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0B803-0DD1-4C6F-BFEF-7C6F56F9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BFF"/>
                </a:solidFill>
              </a:defRPr>
            </a:pPr>
            <a:r>
              <a:rPr sz="1200" b="1">
                <a:solidFill>
                  <a:srgbClr val="F8FBFF"/>
                </a:solidFill>
              </a:rPr>
              <a:t>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52A24-3942-4A87-A52C-ECF67BD2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completion</a:t>
            </a:r>
          </a:p>
          <a:p xmlns:a="http://schemas.openxmlformats.org/drawingml/2006/main">
            <a:pPr algn="ctr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checklist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9A28B-69BB-4148-AB5E-7673E850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00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28575">
            <a:solidFill>
              <a:srgbClr val="5BE7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89530-2C96-4FA4-B00B-89DF90F1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051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E7E7"/>
                </a:solidFill>
              </a:defRPr>
            </a:pPr>
            <a:r>
              <a:rPr sz="900" b="1">
                <a:solidFill>
                  <a:srgbClr val="5BE7E7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F6F26-A083-4D16-AEF1-252D1D9C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86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BFF"/>
                </a:solidFill>
              </a:defRPr>
            </a:pPr>
            <a:r>
              <a:rPr sz="1200" b="1">
                <a:solidFill>
                  <a:srgbClr val="F8FBFF"/>
                </a:solidFill>
              </a:rPr>
              <a:t>Resume + JD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1BE5B-F458-4B50-9547-A0CF9FB1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1000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review →</a:t>
            </a:r>
          </a:p>
          <a:p xmlns:a="http://schemas.openxmlformats.org/drawingml/2006/main">
            <a:pPr algn="ctr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confirm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A2E00-0095-409B-9031-FB6EC41F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00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28575">
            <a:solidFill>
              <a:srgbClr val="FFC8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E622E-5D43-4B02-A07B-4BD5E6F7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051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C857"/>
                </a:solidFill>
              </a:defRPr>
            </a:pPr>
            <a:r>
              <a:rPr sz="900" b="1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2FF60-824E-471B-AE3D-88263D65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86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BFF"/>
                </a:solidFill>
              </a:defRPr>
            </a:pPr>
            <a:r>
              <a:rPr sz="1200" b="1">
                <a:solidFill>
                  <a:srgbClr val="F8FBFF"/>
                </a:solidFill>
              </a:rPr>
              <a:t>ATS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5B5D82-77BF-444C-BFEA-A96663FA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000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coverage +</a:t>
            </a:r>
          </a:p>
          <a:p xmlns:a="http://schemas.openxmlformats.org/drawingml/2006/main">
            <a:pPr algn="ctr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exact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43218-5EAE-4E72-89A6-5C16F448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0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28575">
            <a:solidFill>
              <a:srgbClr val="FF7A7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57A694-E702-4005-A6E7-BFBFF1C8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051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7A73"/>
                </a:solidFill>
              </a:defRPr>
            </a:pPr>
            <a:r>
              <a:rPr sz="900" b="1">
                <a:solidFill>
                  <a:srgbClr val="FF7A73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A5A0F5-3333-486E-A52D-3A9775A6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86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BFF"/>
                </a:solidFill>
              </a:defRPr>
            </a:pPr>
            <a:r>
              <a:rPr sz="1200" b="1">
                <a:solidFill>
                  <a:srgbClr val="F8FBFF"/>
                </a:solidFill>
              </a:rPr>
              <a:t>Interview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CEEFE6-4DC0-408D-B967-8BEBD41C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1000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practice +</a:t>
            </a:r>
          </a:p>
          <a:p xmlns:a="http://schemas.openxmlformats.org/drawingml/2006/main">
            <a:pPr algn="ctr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coaching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BFDBE0-7905-48DC-A7C3-9248C30F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0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28575">
            <a:solidFill>
              <a:srgbClr val="4F8C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46254-0D15-4F88-A309-E1C9CC51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051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8CFF"/>
                </a:solidFill>
              </a:defRPr>
            </a:pPr>
            <a:r>
              <a:rPr sz="900" b="1">
                <a:solidFill>
                  <a:srgbClr val="4F8CFF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6FD278-6418-4655-9AA6-7170AD5A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BFF"/>
                </a:solidFill>
              </a:defRPr>
            </a:pPr>
            <a:r>
              <a:rPr sz="1200" b="1">
                <a:solidFill>
                  <a:srgbClr val="F8FBFF"/>
                </a:solidFill>
              </a:rPr>
              <a:t>Learning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EF4ED7-5776-4FB4-BD47-F2A161FE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gaps →</a:t>
            </a:r>
          </a:p>
          <a:p xmlns:a="http://schemas.openxmlformats.org/drawingml/2006/main">
            <a:pPr algn="ctr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real resources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31E814-ACAF-4D41-8ED3-36CC6861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00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28575">
            <a:solidFill>
              <a:srgbClr val="5BE7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0E3D1E-34D7-41DD-9B8A-8827E16E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051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E7E7"/>
                </a:solidFill>
              </a:defRPr>
            </a:pPr>
            <a:r>
              <a:rPr sz="900" b="1">
                <a:solidFill>
                  <a:srgbClr val="5BE7E7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700DA4-C9EC-44DC-8C9F-B22858F4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86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BFF"/>
                </a:solidFill>
              </a:defRPr>
            </a:pPr>
            <a:r>
              <a:rPr sz="1200" b="1">
                <a:solidFill>
                  <a:srgbClr val="F8FBFF"/>
                </a:solidFill>
              </a:rPr>
              <a:t>Jobs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ECF1F9-10D5-4434-8EEB-6921DA8D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1000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evidence-based</a:t>
            </a:r>
          </a:p>
          <a:p xmlns:a="http://schemas.openxmlformats.org/drawingml/2006/main">
            <a:pPr algn="ctr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matching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070E34-6A64-4422-8E61-CD9438F6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233B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AFB5BC-AFCC-419C-A0F5-1D80502D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E7E7"/>
                </a:solidFill>
              </a:defRPr>
            </a:pPr>
            <a:r>
              <a:rPr sz="1350" b="1">
                <a:solidFill>
                  <a:srgbClr val="5BE7E7"/>
                </a:solidFill>
              </a:rPr>
              <a:t>The product advantage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B78D3F-70E1-41E6-AA73-A5C977D5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816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LLMs enrich the experience; deterministic rules and confirmed evidence keep the system honest.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AE7E3A-7A02-4CE5-8D17-39E28C8B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1497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No invented employers. No fabricated video IDs. No browser-to-database access. No hiring prediction score.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074ADC-9890-46AA-8EDC-53F01FDE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7CA"/>
                </a:solidFill>
              </a:defRPr>
            </a:pPr>
            <a:r>
              <a:rPr sz="750" b="1">
                <a:solidFill>
                  <a:srgbClr val="A8B7CA"/>
                </a:solidFill>
              </a:rPr>
              <a:t>CAREER COPILOT  /  PRODUCT PITCH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98EE3F-3FE5-4833-83D1-09A97F76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E7E7"/>
                </a:solidFill>
              </a:defRPr>
            </a:pPr>
            <a:r>
              <a:rPr sz="825" b="1">
                <a:solidFill>
                  <a:srgbClr val="5BE7E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582538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CBFB9F-4E39-4133-89E9-43846013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E7E7"/>
                </a:solidFill>
              </a:defRPr>
            </a:pPr>
            <a:r>
              <a:rPr sz="900" b="1">
                <a:solidFill>
                  <a:srgbClr val="5BE7E7"/>
                </a:solidFill>
              </a:rPr>
              <a:t>04  /  PRODUCT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6E4AB-814C-4FCF-9B81-D71150B0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BFF"/>
                </a:solidFill>
              </a:defRPr>
            </a:pPr>
            <a:r>
              <a:rPr sz="2625" b="1">
                <a:solidFill>
                  <a:srgbClr val="F8FBFF"/>
                </a:solidFill>
              </a:rPr>
              <a:t>A candidate can see the gap, prove the change, and act on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C3A63-1841-4079-866D-A8E965D2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7CA"/>
                </a:solidFill>
              </a:defRPr>
            </a:pPr>
            <a:r>
              <a:rPr sz="1200" b="0">
                <a:solidFill>
                  <a:srgbClr val="A8B7CA"/>
                </a:solidFill>
              </a:rPr>
              <a:t>Illustrative user journey: a data analyst aligning to a target role without surrendering control of their 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82101-736E-496D-AA28-D5D941CF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53D2E-A2ED-4203-BC2F-5BC7016C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05150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26D30-6F81-4EC1-B786-D100AAD4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6383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233B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34B12-723A-451F-B2B8-8C832CD5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F8CFF"/>
                </a:solidFill>
              </a:defRPr>
            </a:pPr>
            <a:r>
              <a:rPr sz="825" b="1">
                <a:solidFill>
                  <a:srgbClr val="4F8CFF"/>
                </a:solidFill>
              </a:rPr>
              <a:t>TARGET 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E675F-9296-4264-91E9-C8B655F8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384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Job description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12508-A9BD-4652-AF14-4AC053C7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required terms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C00B1-6908-4186-A887-13D34213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44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EEB45-5780-42E0-9106-C542B591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09850"/>
            <a:ext cx="16383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233B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887CB-F561-4A2C-85D7-BD616548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62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E7E7"/>
                </a:solidFill>
              </a:defRPr>
            </a:pPr>
            <a:r>
              <a:rPr sz="825" b="1">
                <a:solidFill>
                  <a:srgbClr val="5BE7E7"/>
                </a:solidFill>
              </a:rPr>
              <a:t>SOURCE OF TRUTH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741A2-F3DC-4B22-8AB7-DC43B046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384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Confirmed resume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D512D-99CF-4542-90C2-461AB12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861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grounded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917AE-FEEA-4C5B-ADD1-F93793CC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44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B110B5-BBFF-4A71-9BCB-06FDC032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09850"/>
            <a:ext cx="16383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233B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57553-2F43-4D72-984F-7A8EAA04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62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C857"/>
                </a:solidFill>
              </a:defRPr>
            </a:pPr>
            <a:r>
              <a:rPr sz="825" b="1">
                <a:solidFill>
                  <a:srgbClr val="FFC857"/>
                </a:solidFill>
              </a:rPr>
              <a:t>SIGNAL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FA6A2-2EC8-476E-88BF-8BD22EC8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384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ATS gap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FC5353-66C7-4680-87C2-47616123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861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strong / partial / missing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CFAA5-4FAA-4953-8E89-5C4D4A90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05150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44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E78790-B996-493F-A3A1-11906800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09850"/>
            <a:ext cx="16383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233B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A9BECE-7EC0-43E7-8D77-975330E3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62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7A73"/>
                </a:solidFill>
              </a:defRPr>
            </a:pPr>
            <a:r>
              <a:rPr sz="825" b="1">
                <a:solidFill>
                  <a:srgbClr val="FF7A73"/>
                </a:solidFill>
              </a:rPr>
              <a:t>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0451BA-C8FA-467A-8AA2-F8B24E31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384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Learning + practice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55125F-A64B-49E1-926B-EF5A9F6F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861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real resources + coaching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B5295F-12AD-49AF-9EA5-17002E37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09850"/>
            <a:ext cx="16383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233B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E8D067-B506-4978-9A71-314EE910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62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E7E7"/>
                </a:solidFill>
              </a:defRPr>
            </a:pPr>
            <a:r>
              <a:rPr sz="825" b="1">
                <a:solidFill>
                  <a:srgbClr val="5BE7E7"/>
                </a:solidFill>
              </a:rPr>
              <a:t>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39B6F7-0537-4881-9664-9BF8875F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384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BFF"/>
                </a:solidFill>
              </a:defRPr>
            </a:pPr>
            <a:r>
              <a:rPr sz="1500" b="1">
                <a:solidFill>
                  <a:srgbClr val="F8FBFF"/>
                </a:solidFill>
              </a:rPr>
              <a:t>Job feed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09D55F-5AB1-4975-BDE9-F8DBF3EA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861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CA"/>
                </a:solidFill>
              </a:defRPr>
            </a:pPr>
            <a:r>
              <a:rPr sz="900" b="0">
                <a:solidFill>
                  <a:srgbClr val="A8B7CA"/>
                </a:solidFill>
              </a:rPr>
              <a:t>evidence-based matches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8E6390-ECF6-4AB2-87F2-40B82ECE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E7E7"/>
                </a:solidFill>
              </a:defRPr>
            </a:pPr>
            <a:r>
              <a:rPr sz="1650" b="1">
                <a:solidFill>
                  <a:srgbClr val="5BE7E7"/>
                </a:solidFill>
              </a:rPr>
              <a:t>Why it matters as a product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DD6277-F48F-47BF-B922-CB58C189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BFF"/>
                </a:solidFill>
              </a:defRPr>
            </a:pPr>
            <a:r>
              <a:rPr sz="1050" b="1">
                <a:solidFill>
                  <a:srgbClr val="F8FBFF"/>
                </a:solidFill>
              </a:rPr>
              <a:t>For candidates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DC0754-DCB7-47E0-8735-04E63D21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958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7CA"/>
                </a:solidFill>
              </a:defRPr>
            </a:pPr>
            <a:r>
              <a:rPr sz="1050" b="0">
                <a:solidFill>
                  <a:srgbClr val="A8B7CA"/>
                </a:solidFill>
              </a:rPr>
              <a:t>less guesswork, clearer next steps, a private record of progress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D9EF5C-4AA6-439B-B947-162DD7AD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BFF"/>
                </a:solidFill>
              </a:defRPr>
            </a:pPr>
            <a:r>
              <a:rPr sz="1050" b="1">
                <a:solidFill>
                  <a:srgbClr val="F8FBFF"/>
                </a:solidFill>
              </a:rPr>
              <a:t>For institutions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8D6E59-F9AE-408F-B48B-4292D412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7CA"/>
                </a:solidFill>
              </a:defRPr>
            </a:pPr>
            <a:r>
              <a:rPr sz="1050" b="0">
                <a:solidFill>
                  <a:srgbClr val="A8B7CA"/>
                </a:solidFill>
              </a:rPr>
              <a:t>a structured, coachable readiness workflow across cohorts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6A5D03-FC93-48EB-9134-7BE4E5C0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BFF"/>
                </a:solidFill>
              </a:defRPr>
            </a:pPr>
            <a:r>
              <a:rPr sz="1050" b="1">
                <a:solidFill>
                  <a:srgbClr val="F8FBFF"/>
                </a:solidFill>
              </a:rPr>
              <a:t>For the platform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E07BAA-624E-4B78-892E-0EE384F5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959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7CA"/>
                </a:solidFill>
              </a:defRPr>
            </a:pPr>
            <a:r>
              <a:rPr sz="1050" b="0">
                <a:solidFill>
                  <a:srgbClr val="A8B7CA"/>
                </a:solidFill>
              </a:rPr>
              <a:t>a durable evidence graph that compounds across the journey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6F1EBE-50F1-4C63-AAB6-6F7404FE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F5D533-F9E7-4152-8E8C-1C01E197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911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111F"/>
                </a:solidFill>
              </a:defRPr>
            </a:pPr>
            <a:r>
              <a:rPr sz="900" b="1">
                <a:solidFill>
                  <a:srgbClr val="08111F"/>
                </a:solidFill>
              </a:rPr>
              <a:t>POSITIONING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A7821E-BACE-4AD3-A1F1-DD78E40D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149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BFF"/>
                </a:solidFill>
              </a:defRPr>
            </a:pPr>
            <a:r>
              <a:rPr sz="1050" b="1">
                <a:solidFill>
                  <a:srgbClr val="F8FBFF"/>
                </a:solidFill>
              </a:rPr>
              <a:t>Private career workspace — not an automated hiring oracle.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B6696A-4E08-440A-8AE9-7308C0A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7CA"/>
                </a:solidFill>
              </a:defRPr>
            </a:pPr>
            <a:r>
              <a:rPr sz="750" b="1">
                <a:solidFill>
                  <a:srgbClr val="A8B7CA"/>
                </a:solidFill>
              </a:rPr>
              <a:t>CAREER COPILOT  /  PRODUCT PITCH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1C8D84-C2FA-45DF-AA27-9B1B4D5E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E7E7"/>
                </a:solidFill>
              </a:defRPr>
            </a:pPr>
            <a:r>
              <a:rPr sz="825" b="1">
                <a:solidFill>
                  <a:srgbClr val="5BE7E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07857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FDD1B6-7A18-489E-AA40-15867D2E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E7E7"/>
                </a:solidFill>
              </a:defRPr>
            </a:pPr>
            <a:r>
              <a:rPr sz="900" b="1">
                <a:solidFill>
                  <a:srgbClr val="5BE7E7"/>
                </a:solidFill>
              </a:rPr>
              <a:t>05  /  SCALE WITH TRUST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1F3C4-5A4C-4D3A-A218-13B7B960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BFF"/>
                </a:solidFill>
              </a:defRPr>
            </a:pPr>
            <a:r>
              <a:rPr sz="2625" b="1">
                <a:solidFill>
                  <a:srgbClr val="F8FBFF"/>
                </a:solidFill>
              </a:rPr>
              <a:t>The roadmap expands capacity without weakening the evidence contract.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72E7A-1D34-44C9-BCF8-171B0E33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7CA"/>
                </a:solidFill>
              </a:defRPr>
            </a:pPr>
            <a:r>
              <a:rPr sz="1200" b="0">
                <a:solidFill>
                  <a:srgbClr val="A8B7CA"/>
                </a:solidFill>
              </a:rPr>
              <a:t>Scale the system — not the amount of invention it is allowed to make.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950BD-1700-4852-971D-8CFDDA92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853AB-DC83-4097-A9C6-D78BC04D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343150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12233B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6D7EC-235D-4372-8720-5CA660B6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0673B-83A7-4FA9-8550-E76D2493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F8CFF"/>
                </a:solidFill>
              </a:defRPr>
            </a:pPr>
            <a:r>
              <a:rPr sz="825" b="1">
                <a:solidFill>
                  <a:srgbClr val="4F8CFF"/>
                </a:solidFill>
              </a:rPr>
              <a:t>COMPUTE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56587-ADA1-4EB9-98DC-CE1186B4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</a:defRPr>
            </a:pPr>
            <a:r>
              <a:rPr sz="1650" b="1">
                <a:solidFill>
                  <a:srgbClr val="F8FBFF"/>
                </a:solidFill>
              </a:rPr>
              <a:t>Async orchestration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EF1D4-7E33-43CE-ACC6-0D7782AC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7CA"/>
                </a:solidFill>
              </a:defRPr>
            </a:pPr>
            <a:r>
              <a:rPr sz="1050" b="0">
                <a:solidFill>
                  <a:srgbClr val="A8B7CA"/>
                </a:solidFill>
              </a:rPr>
              <a:t>Move long-running extraction, scoring, and generation behind durable jobs.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526A6-876C-4A75-960C-6223D26B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00300"/>
            <a:ext cx="2343150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12233B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C270C-6621-4EAC-90A5-979BB1C4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00300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9CA4C-B6E4-4E9B-B2F6-0E673932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E7E7"/>
                </a:solidFill>
              </a:defRPr>
            </a:pPr>
            <a:r>
              <a:rPr sz="825" b="1">
                <a:solidFill>
                  <a:srgbClr val="5BE7E7"/>
                </a:solidFill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B6CDA-1BD9-4A57-B104-9300003D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289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</a:defRPr>
            </a:pPr>
            <a:r>
              <a:rPr sz="1650" b="1">
                <a:solidFill>
                  <a:srgbClr val="F8FBFF"/>
                </a:solidFill>
              </a:rPr>
              <a:t>Tenant-aware 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229AB-448B-4734-BCD5-19118AA7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385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7CA"/>
                </a:solidFill>
              </a:defRPr>
            </a:pPr>
            <a:r>
              <a:rPr sz="1050" b="0">
                <a:solidFill>
                  <a:srgbClr val="A8B7CA"/>
                </a:solidFill>
              </a:rPr>
              <a:t>Indexes, retention, and observability for larger private candidate graphs.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EAA9A-E2BC-4722-8174-A40F078A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00300"/>
            <a:ext cx="2343150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12233B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973EA8-D441-408A-8088-B904D0B7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00300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87515-8EF7-4F6B-9D3A-1C4BA0F3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C857"/>
                </a:solidFill>
              </a:defRPr>
            </a:pPr>
            <a:r>
              <a:rPr sz="825" b="1">
                <a:solidFill>
                  <a:srgbClr val="FFC857"/>
                </a:solidFill>
              </a:rPr>
              <a:t>INTELLIGENCE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77EEE-A1C5-424D-88CB-55F39A91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289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</a:defRPr>
            </a:pPr>
            <a:r>
              <a:rPr sz="1650" b="1">
                <a:solidFill>
                  <a:srgbClr val="F8FBFF"/>
                </a:solidFill>
              </a:rPr>
              <a:t>Provider abstraction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549AF3-7631-40FF-B3B2-48C08E22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385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7CA"/>
                </a:solidFill>
              </a:defRPr>
            </a:pPr>
            <a:r>
              <a:rPr sz="1050" b="0">
                <a:solidFill>
                  <a:srgbClr val="A8B7CA"/>
                </a:solidFill>
              </a:rPr>
              <a:t>Swap LLM / search providers behind stable contracts and evaluation gates.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AE78BD-3964-43EC-892C-812F7151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00300"/>
            <a:ext cx="2343150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12233B"/>
          </a:solidFill>
          <a:ln xmlns:a="http://schemas.openxmlformats.org/drawingml/2006/main" w="9525">
            <a:solidFill>
              <a:srgbClr val="2744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1AAF4D-B3DE-44F1-9155-6800ADF4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00300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BDF9D9-7897-4135-B8D0-0A877702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86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7A73"/>
                </a:solidFill>
              </a:defRPr>
            </a:pPr>
            <a:r>
              <a:rPr sz="825" b="1">
                <a:solidFill>
                  <a:srgbClr val="FF7A73"/>
                </a:solidFill>
              </a:rPr>
              <a:t>REACH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26604F-2D11-422A-910A-EA55A6D6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289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</a:defRPr>
            </a:pPr>
            <a:r>
              <a:rPr sz="1650" b="1">
                <a:solidFill>
                  <a:srgbClr val="F8FBFF"/>
                </a:solidFill>
              </a:rPr>
              <a:t>Ecosystem integrations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C3FE9A-F851-46AA-A670-AE9A0BD4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385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7CA"/>
                </a:solidFill>
              </a:defRPr>
            </a:pPr>
            <a:r>
              <a:rPr sz="1050" b="0">
                <a:solidFill>
                  <a:srgbClr val="A8B7CA"/>
                </a:solidFill>
              </a:rPr>
              <a:t>LMS, campus career centers, CRM, and export / import surfaces.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83BA04-2990-4161-A972-5A8525BA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172C48"/>
          </a:solidFill>
          <a:ln xmlns:a="http://schemas.openxmlformats.org/drawingml/2006/main" w="9525">
            <a:solidFill>
              <a:srgbClr val="1AB6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0BCCC8-BB83-4686-B4B5-64FBA5C3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530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E7E7"/>
                </a:solidFill>
              </a:defRPr>
            </a:pPr>
            <a:r>
              <a:rPr sz="900" b="1">
                <a:solidFill>
                  <a:srgbClr val="5BE7E7"/>
                </a:solidFill>
              </a:rPr>
              <a:t>INVARIANTS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DADFFD-73EC-44D2-98AE-93C58A21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24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BFF"/>
                </a:solidFill>
              </a:defRPr>
            </a:pPr>
            <a:r>
              <a:rPr sz="1200" b="1">
                <a:solidFill>
                  <a:srgbClr val="F8FBFF"/>
                </a:solidFill>
              </a:rPr>
              <a:t>Confirmed inputs  ·  server-side secrets  ·  user ownership  ·  deterministic product scoring  ·  graceful degradation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1916E3-8A12-4A79-BF8F-350F0B7F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245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7CA"/>
                </a:solidFill>
              </a:defRPr>
            </a:pPr>
            <a:r>
              <a:rPr sz="1050" b="0">
                <a:solidFill>
                  <a:srgbClr val="A8B7CA"/>
                </a:solidFill>
              </a:rPr>
              <a:t>North star: become the trusted operating layer for candidate readiness — measurable enough to improve, private enough to rely 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902973-84FB-474B-B911-8C48DA2A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7CA"/>
                </a:solidFill>
              </a:defRPr>
            </a:pPr>
            <a:r>
              <a:rPr sz="750" b="1">
                <a:solidFill>
                  <a:srgbClr val="A8B7CA"/>
                </a:solidFill>
              </a:rPr>
              <a:t>CAREER COPILOT  /  PRODUCT PITCH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77B9FB-5C86-4ABD-A26C-F325315A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E7E7"/>
                </a:solidFill>
              </a:defRPr>
            </a:pPr>
            <a:r>
              <a:rPr sz="825" b="1">
                <a:solidFill>
                  <a:srgbClr val="5BE7E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60836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2026-08-10T09:14:23.3190000Z</dcterms:created>
  <dcterms:modified xsi:type="dcterms:W3CDTF">2026-08-10T09:14:23.3190000Z</dcterms:modified>
</coreProperties>
</file>